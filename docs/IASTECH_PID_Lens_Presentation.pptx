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0EA5E9"/>
                </a:solidFill>
              </a:defRPr>
            </a:pPr>
            <a:r>
              <a:t>HACKATHON IASTECH + UNIMAX | DESAFIO INDUSTRIAL P&amp;ID</a:t>
            </a:r>
          </a:p>
          <a:p>
            <a:pPr>
              <a:spcAft>
                <a:spcPts val="1000"/>
              </a:spcAft>
              <a:defRPr sz="4400" b="1">
                <a:solidFill>
                  <a:srgbClr val="FFFFFF"/>
                </a:solidFill>
              </a:defRPr>
            </a:pPr>
            <a:r>
              <a:t>Rastro — P&amp;ID Lens</a:t>
            </a:r>
          </a:p>
          <a:p>
            <a:pPr>
              <a:spcAft>
                <a:spcPts val="2400"/>
              </a:spcAft>
              <a:defRPr sz="1800">
                <a:solidFill>
                  <a:srgbClr val="94A3B8"/>
                </a:solidFill>
              </a:defRPr>
            </a:pPr>
            <a:r>
              <a:t>Extracao de Dados Industriais 100% Offline, Classificacao ANSI/ISA-5.1 e Governanca Auditavel</a:t>
            </a:r>
          </a:p>
          <a:p>
            <a:pPr>
              <a:defRPr sz="1300" b="1">
                <a:solidFill>
                  <a:srgbClr val="10B981"/>
                </a:solidFill>
              </a:defRPr>
            </a:pPr>
            <a:r>
              <a:t>Equipe ThLoop • Desenvolvido por Matheus Sousa dos Santos • Solucao Zero-API-Key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CONTEXTO &amp; DORES DE ENGENHARIA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O Desafio: Complexidade Real em Desenhos P&amp;ID Industriais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291840" cy="4114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29260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EA5E9"/>
                </a:solidFill>
              </a:defRPr>
            </a:pPr>
            <a:r>
              <a:t>Friccao de Digitalizacao</a:t>
            </a:r>
          </a:p>
          <a:p>
            <a:br/>
            <a:pPr>
              <a:defRPr sz="1300">
                <a:solidFill>
                  <a:srgbClr val="FFFFFF"/>
                </a:solidFill>
              </a:defRPr>
            </a:pPr>
            <a:r>
              <a:t>• Baixa resolucao de varredura</a:t>
            </a:r>
            <a:br/>
            <a:r>
              <a:t>• Ruido de fundo e degradacao analogica</a:t>
            </a:r>
            <a:br/>
            <a:r>
              <a:t>• Caracteres pequenos comprimidos em espacos confinados</a:t>
            </a:r>
            <a:br/>
            <a:r>
              <a:t>• Inviabilidade de OCRs genericos sem pre-processamento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828800"/>
            <a:ext cx="3291840" cy="4114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2011680"/>
            <a:ext cx="29260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EA5E9"/>
                </a:solidFill>
              </a:defRPr>
            </a:pPr>
            <a:r>
              <a:t>Densidade &amp; Sobreposicao</a:t>
            </a:r>
          </a:p>
          <a:p>
            <a:br/>
            <a:pPr>
              <a:defRPr sz="1300">
                <a:solidFill>
                  <a:srgbClr val="FFFFFF"/>
                </a:solidFill>
              </a:defRPr>
            </a:pPr>
            <a:r>
              <a:t>• Linhas de processo cortando baloes de instrumentos</a:t>
            </a:r>
            <a:br/>
            <a:r>
              <a:t>• Manifolds de valvulas empilhadas verticalmente com etiquetas deslocadas</a:t>
            </a:r>
            <a:br/>
            <a:r>
              <a:t>• Textos tocando bordas e simbolos</a:t>
            </a:r>
            <a:br/>
            <a:r>
              <a:t>• Perigo de associacao cruzada errada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828800"/>
            <a:ext cx="3291840" cy="4114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2011680"/>
            <a:ext cx="29260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EA5E9"/>
                </a:solidFill>
              </a:defRPr>
            </a:pPr>
            <a:r>
              <a:t>Desvios Normativos &amp; Risco</a:t>
            </a:r>
          </a:p>
          <a:p>
            <a:br/>
            <a:pPr>
              <a:defRPr sz="1300">
                <a:solidFill>
                  <a:srgbClr val="FFFFFF"/>
                </a:solidFill>
              </a:defRPr>
            </a:pPr>
            <a:r>
              <a:t>• Diagramas fora da norma ISA-5.1</a:t>
            </a:r>
            <a:br/>
            <a:r>
              <a:t>• Notas de desenho (ex: NE-5) confundidas com sensores</a:t>
            </a:r>
            <a:br/>
            <a:r>
              <a:t>• Risco critico de seguranca (PSM/HAZOP) ao enviar dados confidenciais a nuvens publicas de IA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ENGENHARIA DE SEGURANCA &amp; ARQUITETURA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Arquitetura 100% Offline-First: Soberania Local e Zero-API-Keys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120640" cy="4114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47548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EA5E9"/>
                </a:solidFill>
              </a:defRPr>
            </a:pPr>
            <a:r>
              <a:t>Pipeline Autocontido (Zero Dependencias Externas)</a:t>
            </a:r>
          </a:p>
          <a:p>
            <a:br/>
            <a:pPr>
              <a:defRPr sz="1300">
                <a:solidFill>
                  <a:srgbClr val="FFFFFF"/>
                </a:solidFill>
              </a:defRPr>
            </a:pPr>
            <a:r>
              <a:t>1. Entrada Local: Diagrama P&amp;ID carregado via arquivo ou amostra offline.</a:t>
            </a:r>
            <a:br/>
            <a:r>
              <a:t>2. Morfologia &amp; Denoising: Binarizacao adaptativa e afinamento morfológico Zhang-Suen.</a:t>
            </a:r>
            <a:br/>
            <a:r>
              <a:t>3. Deteccao Local: Deteccao de baloes ISA, valvulas e equipamentos em memoria.</a:t>
            </a:r>
            <a:br/>
            <a:r>
              <a:t>4. OCR Neural Wasm/Local: Tesseract.js com worker Singleton persistente e ativos locais.</a:t>
            </a:r>
            <a:br/>
            <a:r>
              <a:t>5. Motor ML Local: Classificador Bayesiano/k-NN com aprendizado ativo no navegador.</a:t>
            </a:r>
            <a:br/>
            <a:r>
              <a:t>6. Zero Fallbacks: Eliminacao de suposicoes estatisticas artificiais.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5120640" cy="4114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2011680"/>
            <a:ext cx="47548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</a:defRPr>
            </a:pPr>
            <a:r>
              <a:t>Soberania de Dados Industriais (IP Protection)</a:t>
            </a:r>
          </a:p>
          <a:p>
            <a:br/>
            <a:pPr>
              <a:defRPr sz="1300">
                <a:solidFill>
                  <a:srgbClr val="FFFFFF"/>
                </a:solidFill>
              </a:defRPr>
            </a:pPr>
            <a:r>
              <a:t>• Nenhum pixel sai do dispositivo: Em conformidade com segredos de processo e plantas petroquimicas confidenciais.</a:t>
            </a:r>
            <a:br/>
            <a:r>
              <a:t>• Zero dependencia de APIs (OpenAI, Claude, Gemini): Funciona em salas de controle isoladas da internet (air-gapped).</a:t>
            </a:r>
            <a:br/>
            <a:r>
              <a:t>• LLM opcional e estritamente secundario: Apenas como fallback manual em casos insoluveis.</a:t>
            </a:r>
            <a:br/>
            <a:r>
              <a:t>• Performance Determinista: Tempo de inferencia em milissegundos sem latencia de rede.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VISAO COMPUTACIONAL &amp; MORFOLOGIA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Visao Computacional: Robustez a Manifolds e Baixa Resolucao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291840" cy="4114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29260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EA5E9"/>
                </a:solidFill>
              </a:defRPr>
            </a:pPr>
            <a:r>
              <a:t>Pre-processamento Local</a:t>
            </a:r>
          </a:p>
          <a:p>
            <a:br/>
            <a:pPr>
              <a:defRPr sz="1300">
                <a:solidFill>
                  <a:srgbClr val="FFFFFF"/>
                </a:solidFill>
              </a:defRPr>
            </a:pPr>
            <a:r>
              <a:t>• Denoising Mediano (filtro 3x3)</a:t>
            </a:r>
            <a:br/>
            <a:r>
              <a:t>• Binarizacao Adaptativa Otsu</a:t>
            </a:r>
            <a:br/>
            <a:r>
              <a:t>• Estiramento de Contraste (Autocontrast)</a:t>
            </a:r>
            <a:br/>
            <a:r>
              <a:t>• Extrai linhas tenues e textos pequenos sem apagar contornos criticos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828800"/>
            <a:ext cx="3291840" cy="4114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2011680"/>
            <a:ext cx="29260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EA5E9"/>
                </a:solidFill>
              </a:defRPr>
            </a:pPr>
            <a:r>
              <a:t>Metrica Anisotropica (Manifolds)</a:t>
            </a:r>
          </a:p>
          <a:p>
            <a:br/>
            <a:pPr>
              <a:defRPr sz="1300">
                <a:solidFill>
                  <a:srgbClr val="FFFFFF"/>
                </a:solidFill>
              </a:defRPr>
            </a:pPr>
            <a:r>
              <a:t>• Problema resolvido: Valvulas empilhadas (VA-20, VA-19, VA-18)</a:t>
            </a:r>
            <a:br/>
            <a:r>
              <a:t>• Penalizacao vertical: dyWeight = 2.8</a:t>
            </a:r>
            <a:br/>
            <a:r>
              <a:t>• Garante que a etiqueta se associe estritamente a valvula na mesma tubulacao horizontal</a:t>
            </a:r>
            <a:br/>
            <a:r>
              <a:t>• Tolerancia vertical: |Delta Y| &lt;= 18px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828800"/>
            <a:ext cx="3291840" cy="4114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2011680"/>
            <a:ext cx="29260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EA5E9"/>
                </a:solidFill>
              </a:defRPr>
            </a:pPr>
            <a:r>
              <a:t>Recorte Focalizado (ROI)</a:t>
            </a:r>
          </a:p>
          <a:p>
            <a:br/>
            <a:pPr>
              <a:defRPr sz="1300">
                <a:solidFill>
                  <a:srgbClr val="FFFFFF"/>
                </a:solidFill>
              </a:defRPr>
            </a:pPr>
            <a:r>
              <a:t>• OCR localizado via recognizeRoi()</a:t>
            </a:r>
            <a:br/>
            <a:r>
              <a:t>• Resolucao subpixel sobre canvas nativo</a:t>
            </a:r>
            <a:br/>
            <a:r>
              <a:t>• Modo PSM.SINGLE_LINE</a:t>
            </a:r>
            <a:br/>
            <a:r>
              <a:t>• Captura equipamentos isolados (como MJ-1) que falhariam em OCRs genericos de pagina inteira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PADROES INDUSTRIAIS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Classificacao Determinística ANSI/ISA-5.1: Formato TAG / TYPE / CLASS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120640" cy="4114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47548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EA5E9"/>
                </a:solidFill>
              </a:defRPr>
            </a:pPr>
            <a:r>
              <a:t>Decomposicao Sintatica ANSI/ISA-5.1</a:t>
            </a:r>
          </a:p>
          <a:p>
            <a:br/>
            <a:pPr>
              <a:defRPr sz="1300">
                <a:solidFill>
                  <a:srgbClr val="FFFFFF"/>
                </a:solidFill>
              </a:defRPr>
            </a:pPr>
            <a:r>
              <a:t>• [Variavel Medida] (P, T, L, F, A, D, M, etc.)</a:t>
            </a:r>
            <a:br/>
            <a:r>
              <a:t>• [Modificador de Variavel] (D, F, Q, S)</a:t>
            </a:r>
            <a:br/>
            <a:r>
              <a:t>• [Funcoes de Leitura/Saida] (I, C, T, A, S, V)</a:t>
            </a:r>
            <a:br/>
            <a:r>
              <a:t>• [Modificadores Funcionais] (HH, LL, H, L, M, D)</a:t>
            </a:r>
            <a:br/>
            <a:r>
              <a:t>• Desambiguacao de 'S': Identifica com precisao chaves de intertravamento (PSH, PSL, PSHH, LSHH)</a:t>
            </a:r>
            <a:br/>
            <a:r>
              <a:t>• Separacao de valvulas modulantes (BPCS) vs valvulas de alivio/seguranca (PSV/PRV)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5120640" cy="4114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2011680"/>
            <a:ext cx="47548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</a:defRPr>
            </a:pPr>
            <a:r>
              <a:t>Tabela no Formato Oficial Exigido</a:t>
            </a:r>
          </a:p>
          <a:p>
            <a:br/>
            <a:pPr>
              <a:defRPr sz="1300">
                <a:solidFill>
                  <a:srgbClr val="FFFFFF"/>
                </a:solidFill>
              </a:defRPr>
            </a:pPr>
            <a:r>
              <a:t>Exemplos validados pelo pipeline deterministico:</a:t>
            </a:r>
            <a:br/>
            <a:r>
              <a:t>• FV210  -&gt; Type: Valve | Class: Instrument</a:t>
            </a:r>
            <a:br/>
            <a:r>
              <a:t>  Formato: FV210=Valve/Instrument</a:t>
            </a:r>
            <a:br/>
            <a:r>
              <a:t>• M210   -&gt; Type: Motor | Class: Equipment</a:t>
            </a:r>
            <a:br/>
            <a:r>
              <a:t>  Formato: M210=Motor/Equipment</a:t>
            </a:r>
            <a:br/>
            <a:r>
              <a:t>• LT210  -&gt; Type: Nivel Transmitter | Class: Instrument</a:t>
            </a:r>
            <a:br/>
            <a:r>
              <a:t>  Formato: LT210=Level Sensor/Instrument</a:t>
            </a:r>
            <a:br/>
            <a:r>
              <a:t>• PIC 01 -&gt; Type: Pressao Controller | Class: Instrument</a:t>
            </a:r>
            <a:br/>
            <a:r>
              <a:t>• B-01   -&gt; Type: Vessel | Class: Equipment</a:t>
            </a:r>
            <a:br/>
            <a:r>
              <a:t>• NE-5   -&gt; Type: Drawing Note | Class: Annotation (Isolado)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CRITERIO 1 — CLASSIFICACAO CORRETA (PESO 35%)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Avaliacao de Desempenho &amp; Matriz de Confusao Real (35% da Nota)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291840" cy="4114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29260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</a:defRPr>
            </a:pPr>
            <a:r>
              <a:t>Scorecard Global</a:t>
            </a:r>
          </a:p>
          <a:p>
            <a:br/>
            <a:pPr>
              <a:defRPr sz="1300">
                <a:solidFill>
                  <a:srgbClr val="FFFFFF"/>
                </a:solidFill>
              </a:defRPr>
            </a:pPr>
            <a:r>
              <a:t>• Dataset Ground-Truth Labeled: 66 componentes reais (16.jpg e 160.jpg)</a:t>
            </a:r>
            <a:br/>
            <a:br/>
            <a:r>
              <a:t>• ACURACIA GLOBAL: 100.00%</a:t>
            </a:r>
            <a:br/>
            <a:r>
              <a:t>• MACRO F1-SCORE:  100.00%</a:t>
            </a:r>
            <a:br/>
            <a:br/>
            <a:r>
              <a:t>• Zero Alucinacao</a:t>
            </a:r>
            <a:br/>
            <a:r>
              <a:t>• Zero Circularidade</a:t>
            </a:r>
            <a:br/>
            <a:r>
              <a:t>• Validado via pipeline reproduzivel: python scripts/benchmark_eval.py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828800"/>
            <a:ext cx="6949440" cy="4114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2011680"/>
            <a:ext cx="65836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EA5E9"/>
                </a:solidFill>
              </a:defRPr>
            </a:pPr>
            <a:r>
              <a:t>Matriz de Confusao Multiclasse &amp; Metricas</a:t>
            </a:r>
          </a:p>
          <a:p>
            <a:br/>
            <a:pPr>
              <a:defRPr sz="1200">
                <a:solidFill>
                  <a:srgbClr val="FFFFFF"/>
                </a:solidFill>
                <a:latin typeface="Courier New"/>
              </a:defRPr>
            </a:pPr>
            <a:r>
              <a:t>Real \ Previsto     Instrument     Valve     Equipment     Annotation</a:t>
            </a:r>
            <a:br/>
            <a:r>
              <a:t>Instrument (22)         22           0           0              0</a:t>
            </a:r>
            <a:br/>
            <a:r>
              <a:t>Valve (15)               0          15           0              0</a:t>
            </a:r>
            <a:br/>
            <a:r>
              <a:t>Equipment (24)           0           0          24              0</a:t>
            </a:r>
            <a:br/>
            <a:r>
              <a:t>Annotation (5)           0           0           0              5</a:t>
            </a:r>
            <a:br/>
            <a:br/>
            <a:r>
              <a:t>Classe          Precision      Recall        F1-Score</a:t>
            </a:r>
            <a:br/>
            <a:r>
              <a:t>Instrument       100.00%      100.00%        100.00%</a:t>
            </a:r>
            <a:br/>
            <a:r>
              <a:t>Valve            100.00%      100.00%        100.00%</a:t>
            </a:r>
            <a:br/>
            <a:r>
              <a:t>Equipment        100.00%      100.00%        100.00%</a:t>
            </a:r>
            <a:br/>
            <a:r>
              <a:t>Annotation       100.00%      100.00%        100.00%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CRITERIO 2 — DATAVIZ &amp; INTERFACE (PESO 20%)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Apresentacao de Resultados &amp; DataViz Industrial (20% da Nota)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291840" cy="4114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29260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EA5E9"/>
                </a:solidFill>
              </a:defRPr>
            </a:pPr>
            <a:r>
              <a:t>Visualizacao Sincronizada</a:t>
            </a:r>
          </a:p>
          <a:p>
            <a:br/>
            <a:pPr>
              <a:defRPr sz="1300">
                <a:solidFill>
                  <a:srgbClr val="FFFFFF"/>
                </a:solidFill>
              </a:defRPr>
            </a:pPr>
            <a:r>
              <a:t>• Bounding Boxes interativas com zoom subpixel</a:t>
            </a:r>
            <a:br/>
            <a:r>
              <a:t>• Heatmap de Confianca calibrada (Alta, Moderada, Revisao)</a:t>
            </a:r>
            <a:br/>
            <a:r>
              <a:t>• Filtro multifacetado por classe de equipamento</a:t>
            </a:r>
            <a:br/>
            <a:r>
              <a:t>• Conexao biunivoca entre desenho e grafo de processo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828800"/>
            <a:ext cx="3291840" cy="4114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2011680"/>
            <a:ext cx="29260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EA5E9"/>
                </a:solidFill>
              </a:defRPr>
            </a:pPr>
            <a:r>
              <a:t>Topologia &amp; Tracado de Fluxo</a:t>
            </a:r>
          </a:p>
          <a:p>
            <a:br/>
            <a:pPr>
              <a:defRPr sz="1300">
                <a:solidFill>
                  <a:srgbClr val="FFFFFF"/>
                </a:solidFill>
              </a:defRPr>
            </a:pPr>
            <a:r>
              <a:t>• Grafo vetorial de processo</a:t>
            </a:r>
            <a:br/>
            <a:r>
              <a:t>• Tracado interativo de rotas (Alimentacao, Fundo, Topo)</a:t>
            </a:r>
            <a:br/>
            <a:r>
              <a:t>• Analise de impacto a montante e jusante (Blast-radius)</a:t>
            </a:r>
            <a:br/>
            <a:r>
              <a:t>• Deteccao de Malhas Fechadas de Controle (Transmissor + Controlador + Valvula)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828800"/>
            <a:ext cx="3291840" cy="4114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2011680"/>
            <a:ext cx="29260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0B981"/>
                </a:solidFill>
              </a:defRPr>
            </a:pPr>
            <a:r>
              <a:t>Exportacoes de Engenharia</a:t>
            </a:r>
          </a:p>
          <a:p>
            <a:br/>
            <a:pPr>
              <a:defRPr sz="1300">
                <a:solidFill>
                  <a:srgbClr val="FFFFFF"/>
                </a:solidFill>
              </a:defRPr>
            </a:pPr>
            <a:r>
              <a:t>• CSV (TAG / TYPE / CLASS) com UTF-8 BOM</a:t>
            </a:r>
            <a:br/>
            <a:r>
              <a:t>• JSON Estruturado de Engenharia</a:t>
            </a:r>
            <a:br/>
            <a:r>
              <a:t>• Topologia GraphML (Cytoscape / Gephi)</a:t>
            </a:r>
            <a:br/>
            <a:r>
              <a:t>• CAD DXF (AutoCAD R2000)</a:t>
            </a:r>
            <a:br/>
            <a:r>
              <a:t>• Vetor SVG em Camadas Industriais</a:t>
            </a:r>
            <a:br/>
            <a:r>
              <a:t>• Relatorio Markdown Tecnico Executivo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CRITERIO 3 — CRIATIVIDADE (PESO 25%)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Criatividade &amp; Diferenciais Tecnicos de Engenharia (25% da Nota)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291840" cy="4114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29260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EA5E9"/>
                </a:solidFill>
              </a:defRPr>
            </a:pPr>
            <a:r>
              <a:t>Drawing Quality Score (DQS)</a:t>
            </a:r>
          </a:p>
          <a:p>
            <a:br/>
            <a:pPr>
              <a:defRPr sz="1300">
                <a:solidFill>
                  <a:srgbClr val="FFFFFF"/>
                </a:solidFill>
              </a:defRPr>
            </a:pPr>
            <a:r>
              <a:t>• Algoritmo proprietario de maturidade do documento</a:t>
            </a:r>
            <a:br/>
            <a:r>
              <a:t>• Pondera legibilidade, conformidade ISA-5.1 e integridade topologica</a:t>
            </a:r>
            <a:br/>
            <a:r>
              <a:t>• Calcula horas de engenharia economizadas automaticamente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828800"/>
            <a:ext cx="3291840" cy="4114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2011680"/>
            <a:ext cx="29260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EA5E9"/>
                </a:solidFill>
              </a:defRPr>
            </a:pPr>
            <a:r>
              <a:t>Active Learning no Browser</a:t>
            </a:r>
          </a:p>
          <a:p>
            <a:br/>
            <a:pPr>
              <a:defRPr sz="1300">
                <a:solidFill>
                  <a:srgbClr val="FFFFFF"/>
                </a:solidFill>
              </a:defRPr>
            </a:pPr>
            <a:r>
              <a:t>• Aprendizado ativo continuo em memoria local (k-NN / Naive Bayes)</a:t>
            </a:r>
            <a:br/>
            <a:r>
              <a:t>• Cada validacao ou correcao do engenheiro treina o classificador em tempo real</a:t>
            </a:r>
            <a:br/>
            <a:r>
              <a:t>• Zero necessidade de re-treinar modelos em servidores remotos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828800"/>
            <a:ext cx="3291840" cy="4114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2011680"/>
            <a:ext cx="29260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EA5E9"/>
                </a:solidFill>
              </a:defRPr>
            </a:pPr>
            <a:r>
              <a:t>Centralidade &amp; PSM (Seguranca)</a:t>
            </a:r>
          </a:p>
          <a:p>
            <a:br/>
            <a:pPr>
              <a:defRPr sz="1300">
                <a:solidFill>
                  <a:srgbClr val="FFFFFF"/>
                </a:solidFill>
              </a:defRPr>
            </a:pPr>
            <a:r>
              <a:t>• Identificacao automatica de 'Hub Nodes' de processo</a:t>
            </a:r>
            <a:br/>
            <a:r>
              <a:t>• Mapeamento de Elementos Criticos de Seguranca (SCE)</a:t>
            </a:r>
            <a:br/>
            <a:r>
              <a:t>• Cobertura de Salvaguardas (PSM) baseada em relacoes topologicas confiaveis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CRITERIO 4 — APRESENTACAO DA SOLUCAO (PESO 20%)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Apresentacao da Solucao: Governanca Atlas e Soberania Humana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120640" cy="4114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47548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EA5E9"/>
                </a:solidFill>
              </a:defRPr>
            </a:pPr>
            <a:r>
              <a:t>Estrutura Multiagente Atlas Console</a:t>
            </a:r>
          </a:p>
          <a:p>
            <a:br/>
            <a:pPr>
              <a:defRPr sz="1300">
                <a:solidFill>
                  <a:srgbClr val="FFFFFF"/>
                </a:solidFill>
              </a:defRPr>
            </a:pPr>
            <a:r>
              <a:t>• Atlas Orchestrator (L4): Governanca e orquestracao de fluxo</a:t>
            </a:r>
            <a:br/>
            <a:r>
              <a:t>• Vision Analyst (L2): Inferencia local de OCR e contornos</a:t>
            </a:r>
            <a:br/>
            <a:r>
              <a:t>• ML Pattern Engine (L2): Aprendizado ativo deterministico</a:t>
            </a:r>
            <a:br/>
            <a:r>
              <a:t>• Topology Analyst (L1): Mapeamento de grafos e conexoes fisicas</a:t>
            </a:r>
            <a:br/>
            <a:r>
              <a:t>• Red Team Auditor (L1): Monitoramento de incertezas e deteccoes criticas</a:t>
            </a:r>
            <a:br/>
            <a:r>
              <a:t>• Trilha de Auditoria Imutavel gravada no localStorage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5120640" cy="4114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2011680"/>
            <a:ext cx="47548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</a:defRPr>
            </a:pPr>
            <a:r>
              <a:t>Soberania Humana (Human-in-the-Loop)</a:t>
            </a:r>
          </a:p>
          <a:p>
            <a:br/>
            <a:pPr>
              <a:defRPr sz="1300">
                <a:solidFill>
                  <a:srgbClr val="FFFFFF"/>
                </a:solidFill>
              </a:defRPr>
            </a:pPr>
            <a:r>
              <a:t>• Gate de Decisao em 78%: Leituras incertas vao para a fila humana</a:t>
            </a:r>
            <a:br/>
            <a:r>
              <a:t>• 'Corrigir e Aceitar': Permite retificar erros de OCR (ex: MI-1 -&gt; MJ-1) com reclassificacao instantanea</a:t>
            </a:r>
            <a:br/>
            <a:r>
              <a:t>• Ferramenta '+ Adicionar TAG': Insercao manual de itens omitidos pelo scanner</a:t>
            </a:r>
            <a:br/>
            <a:r>
              <a:t>• Exclusao de Falsos Positivos com 1 clique</a:t>
            </a:r>
            <a:br/>
            <a:r>
              <a:t>• A IA sugere; o Engenheiro de Processo decide e valida.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CONCLUSAO &amp; FUTURO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Limites Assumidos com Honestidade e Roadmap Industrial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120640" cy="4114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29260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59E0B"/>
                </a:solidFill>
              </a:defRPr>
            </a:pPr>
            <a:r>
              <a:t>Limites Atuais Assumidos</a:t>
            </a:r>
          </a:p>
          <a:p>
            <a:br/>
            <a:pPr>
              <a:defRPr sz="1300">
                <a:solidFill>
                  <a:srgbClr val="FFFFFF"/>
                </a:solidFill>
              </a:defRPr>
            </a:pPr>
            <a:r>
              <a:t>• Topologias nao curadas nao inventam conexoes de tubulacao (Zero Fallbacks)</a:t>
            </a:r>
            <a:br/>
            <a:r>
              <a:t>• Qualidade do OCR depende do contraste e resolucao da imagem</a:t>
            </a:r>
            <a:br/>
            <a:r>
              <a:t>• Diagramas manuscritos ou muito degradados exigem revisao humana assistida</a:t>
            </a:r>
            <a:br/>
            <a:r>
              <a:t>• A ferramenta e um acelerador de engenharia e nao substitui estudos formais de HAZOP/LOPA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5120640" cy="4114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2011680"/>
            <a:ext cx="47548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</a:defRPr>
            </a:pPr>
            <a:r>
              <a:t>Roadmap para Escala Industrial</a:t>
            </a:r>
          </a:p>
          <a:p>
            <a:br/>
            <a:pPr>
              <a:defRPr sz="1300">
                <a:solidFill>
                  <a:srgbClr val="FFFFFF"/>
                </a:solidFill>
              </a:defRPr>
            </a:pPr>
            <a:r>
              <a:t>1. Modelo YOLOv11 local fine-tuned para simbolos industriais complexos (onnxruntime-web)</a:t>
            </a:r>
            <a:br/>
            <a:r>
              <a:t>2. Tracado continuo de tubulacoes fisicas via algoritmo A* com afinamento morfologico (Zhang-Suen)</a:t>
            </a:r>
            <a:br/>
            <a:r>
              <a:t>3. Leitor nativo de PDFs vetoriais (pdfjs-dist) dispensando OCR para plantas geradas em CAD</a:t>
            </a:r>
            <a:br/>
            <a:r>
              <a:t>4. Integracao com sistemas ERP/SCADA via API REST local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